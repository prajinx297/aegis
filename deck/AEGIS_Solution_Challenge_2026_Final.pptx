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Minutes</c:v>
                </c:pt>
              </c:strCache>
            </c:strRef>
          </c:tx>
          <c:spPr>
            <a:solidFill>
              <a:srgbClr val="4285F4"/>
            </a:solidFill>
          </c:spPr>
          <c:cat>
            <c:strRef>
              <c:f>Sheet1!$A$2:$A$3</c:f>
              <c:strCache>
                <c:ptCount val="2"/>
                <c:pt idx="0">
                  <c:v>Manual review</c:v>
                </c:pt>
                <c:pt idx="1">
                  <c:v>AEGIS workflow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9.5</c:v>
                </c:pt>
                <c:pt idx="1">
                  <c:v>2.1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6DF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D6DFEB"/>
            </a:solidFill>
          </a:ln>
        </c:sp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TextBox 101"/>
          <p:cNvSpPr txBox="1"/>
          <p:nvPr/>
        </p:nvSpPr>
        <p:spPr>
          <a:xfrm>
            <a:off x="502920" y="91440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82234"/>
                </a:solidFill>
                <a:latin typeface="Aptos"/>
              </a:rPr>
              <a:t>AEGIS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02920" y="1444752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4285F4"/>
                </a:solidFill>
                <a:latin typeface="Aptos"/>
              </a:rPr>
              <a:t>Adaptive Embedded Guardian for Integrity in Sports Media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20" y="2084831"/>
            <a:ext cx="4343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Aptos"/>
              </a:rPr>
              <a:t>An AI-native rights enforcement platform that fingerprints broadcast assets, detects unauthorized redistribution, and generates evidence-backed takedowns in seconds.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02920" y="2971800"/>
            <a:ext cx="2011680" cy="310896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4A853"/>
                </a:solidFill>
                <a:latin typeface="Aptos"/>
              </a:rPr>
              <a:t>Powered by Gemini 1.5 Pro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651760" y="2971800"/>
            <a:ext cx="1920240" cy="310896"/>
          </a:xfrm>
          <a:prstGeom prst="roundRect">
            <a:avLst/>
          </a:prstGeom>
          <a:solidFill>
            <a:srgbClr val="E8F0FE"/>
          </a:solidFill>
          <a:ln w="1524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285F4"/>
                </a:solidFill>
                <a:latin typeface="Aptos"/>
              </a:rPr>
              <a:t>Google Cloud + Vertex AI</a:t>
            </a:r>
          </a:p>
        </p:txBody>
      </p:sp>
      <p:sp>
        <p:nvSpPr>
          <p:cNvPr id="107" name="Oval 106"/>
          <p:cNvSpPr/>
          <p:nvPr/>
        </p:nvSpPr>
        <p:spPr>
          <a:xfrm>
            <a:off x="6080760" y="1097280"/>
            <a:ext cx="2057400" cy="2057400"/>
          </a:xfrm>
          <a:prstGeom prst="ellipse">
            <a:avLst/>
          </a:prstGeom>
          <a:noFill/>
          <a:ln w="508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537960" y="1554480"/>
            <a:ext cx="1143000" cy="1143000"/>
          </a:xfrm>
          <a:prstGeom prst="ellipse">
            <a:avLst/>
          </a:prstGeom>
          <a:solidFill>
            <a:srgbClr val="E8F0FE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620256" y="1828800"/>
            <a:ext cx="914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4285F4"/>
                </a:solidFill>
                <a:latin typeface="Aptos"/>
              </a:rPr>
              <a:t>AI</a:t>
            </a:r>
          </a:p>
        </p:txBody>
      </p:sp>
      <p:sp>
        <p:nvSpPr>
          <p:cNvPr id="110" name="Oval 109"/>
          <p:cNvSpPr/>
          <p:nvPr/>
        </p:nvSpPr>
        <p:spPr>
          <a:xfrm>
            <a:off x="5852160" y="1783080"/>
            <a:ext cx="219456" cy="219456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001000" y="1783080"/>
            <a:ext cx="219456" cy="219456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912864" y="914400"/>
            <a:ext cx="219456" cy="219456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912864" y="2743200"/>
            <a:ext cx="219456" cy="219456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486400" y="338328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Protect the clip before piracy becomes distribution.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02920" y="3794760"/>
            <a:ext cx="2331720" cy="11521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02920" y="3794760"/>
            <a:ext cx="73152" cy="11521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67512" y="3904488"/>
            <a:ext cx="2112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6B7280"/>
                </a:solidFill>
                <a:latin typeface="Aptos"/>
              </a:rPr>
              <a:t>ASSETS REGISTERED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7512" y="4096512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82234"/>
                </a:solidFill>
                <a:latin typeface="Aptos"/>
              </a:rPr>
              <a:t>12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7512" y="4544568"/>
            <a:ext cx="21122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B7280"/>
                </a:solidFill>
                <a:latin typeface="Aptos"/>
              </a:rPr>
              <a:t>fingerprinted and searchable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3127248" y="3794760"/>
            <a:ext cx="2331720" cy="11521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127248" y="3794760"/>
            <a:ext cx="73152" cy="11521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291840" y="3904488"/>
            <a:ext cx="2112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6B7280"/>
                </a:solidFill>
                <a:latin typeface="Aptos"/>
              </a:rPr>
              <a:t>AVG DETECTION TIME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91840" y="4096512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82234"/>
                </a:solidFill>
                <a:latin typeface="Aptos"/>
              </a:rPr>
              <a:t>2.1s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91840" y="4544568"/>
            <a:ext cx="21122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B7280"/>
                </a:solidFill>
                <a:latin typeface="Aptos"/>
              </a:rPr>
              <a:t>from upload to verdict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751576" y="3794760"/>
            <a:ext cx="2331720" cy="11521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751576" y="3794760"/>
            <a:ext cx="73152" cy="11521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916168" y="3904488"/>
            <a:ext cx="211226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6B7280"/>
                </a:solidFill>
                <a:latin typeface="Aptos"/>
              </a:rPr>
              <a:t>VALUE PROTECTED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16168" y="4096512"/>
            <a:ext cx="2112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82234"/>
                </a:solidFill>
                <a:latin typeface="Aptos"/>
              </a:rPr>
              <a:t>$2.3M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916168" y="4544568"/>
            <a:ext cx="211226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B7280"/>
                </a:solidFill>
                <a:latin typeface="Aptos"/>
              </a:rPr>
              <a:t>estimated rights value preserved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502920" y="822960"/>
            <a:ext cx="2560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82234"/>
                </a:solidFill>
                <a:latin typeface="Aptos"/>
              </a:rPr>
              <a:t>Team Details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502920" y="1225296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502920" y="1554480"/>
            <a:ext cx="411480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713232" y="1755648"/>
            <a:ext cx="1645920" cy="310896"/>
          </a:xfrm>
          <a:prstGeom prst="roundRect">
            <a:avLst/>
          </a:prstGeom>
          <a:solidFill>
            <a:srgbClr val="E8F0FE"/>
          </a:solidFill>
          <a:ln w="1524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285F4"/>
                </a:solidFill>
                <a:latin typeface="Aptos"/>
              </a:rPr>
              <a:t>Submission Snapshot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49808" y="2084831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6B7280"/>
                </a:solidFill>
                <a:latin typeface="Aptos"/>
              </a:rPr>
              <a:t>TEAM NAME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28800" y="2075687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2937"/>
                </a:solidFill>
                <a:latin typeface="Aptos"/>
              </a:rPr>
              <a:t>AEGIS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9808" y="2587751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6B7280"/>
                </a:solidFill>
                <a:latin typeface="Aptos"/>
              </a:rPr>
              <a:t>TEAM LEADER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28800" y="2578607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F2937"/>
                </a:solidFill>
                <a:latin typeface="Aptos"/>
              </a:rPr>
              <a:t>Submission contact in challenge portal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49808" y="3090671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6B7280"/>
                </a:solidFill>
                <a:latin typeface="Aptos"/>
              </a:rPr>
              <a:t>PROBLEM STATEMENT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28800" y="3081527"/>
            <a:ext cx="2423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20" b="0">
                <a:solidFill>
                  <a:srgbClr val="1F2937"/>
                </a:solidFill>
                <a:latin typeface="Aptos"/>
              </a:rPr>
              <a:t>Broadcasters lose revenue and trust when premium match clips are reposted or deepfaked before legal teams can respond.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892040" y="1554480"/>
            <a:ext cx="3246120" cy="2423160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138928" y="1783080"/>
            <a:ext cx="2560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82234"/>
                </a:solidFill>
                <a:latin typeface="Aptos"/>
              </a:rPr>
              <a:t>Why this matters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74920" y="2148840"/>
            <a:ext cx="2651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Aptos"/>
              </a:rPr>
              <a:t>• Live sports value disappears fast once clips spread to mirrors and private channels.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Aptos"/>
              </a:rPr>
              <a:t>• Watermarks alone fail after cropping, reposting, or generative edits.</a:t>
            </a:r>
          </a:p>
          <a:p>
            <a:pPr algn="l">
              <a:spcAft>
                <a:spcPts val="800"/>
              </a:spcAft>
            </a:pPr>
            <a:r>
              <a:rPr sz="1250">
                <a:solidFill>
                  <a:srgbClr val="1F2937"/>
                </a:solidFill>
                <a:latin typeface="Aptos"/>
              </a:rPr>
              <a:t>• Broadcasters need proof, not just detection, to enforce at speed.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457200" y="6583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Brief about your solution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457200" y="1069848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57200" y="11704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ptos"/>
              </a:rPr>
              <a:t>A 3-step workflow designed for judges to understand instantly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8640" y="1389888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82234"/>
                </a:solidFill>
                <a:latin typeface="Aptos"/>
              </a:rPr>
              <a:t>Register -&gt; Monitor -&gt; Enforce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48640" y="1828800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280"/>
                </a:solidFill>
                <a:latin typeface="Aptos"/>
              </a:rPr>
              <a:t>AEGIS turns every protected asset into a searchable fingerprint, scans suspicious uploads, then uses Gemini 1.5 Pro to confirm violations and draft evidence-backed takedowns.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48640" y="2651760"/>
            <a:ext cx="2377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13232" y="2816352"/>
            <a:ext cx="384048" cy="38404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07008" y="279806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82234"/>
                </a:solidFill>
                <a:latin typeface="Aptos"/>
              </a:rPr>
              <a:t>Register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13232" y="3273552"/>
            <a:ext cx="199339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Extract frames, generate embeddings, index in FAISS, anchor SHA-3 proof on Polygon.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291840" y="2651760"/>
            <a:ext cx="2377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456432" y="2816352"/>
            <a:ext cx="384048" cy="38404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950208" y="279806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82234"/>
                </a:solidFill>
                <a:latin typeface="Aptos"/>
              </a:rPr>
              <a:t>Monitor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56432" y="3273552"/>
            <a:ext cx="199339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Scan platform links and suspected uploads, then rank nearest candidates by perceptual similarity.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035040" y="2651760"/>
            <a:ext cx="237744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6199632" y="2816352"/>
            <a:ext cx="384048" cy="38404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693408" y="279806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82234"/>
                </a:solidFill>
                <a:latin typeface="Aptos"/>
              </a:rPr>
              <a:t>Enforce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99632" y="3273552"/>
            <a:ext cx="1993392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Use Gemini to verify ambiguous matches, flag deepfakes, and generate DMCA-ready legal notices.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806440" y="1417320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6B7280"/>
                </a:solidFill>
                <a:latin typeface="Aptos"/>
              </a:rPr>
              <a:t>AI stack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806440" y="1719072"/>
            <a:ext cx="1645920" cy="310896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4A853"/>
                </a:solidFill>
                <a:latin typeface="Aptos"/>
              </a:rPr>
              <a:t>Gemini 1.5 Pro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806440" y="2103120"/>
            <a:ext cx="1828800" cy="310896"/>
          </a:xfrm>
          <a:prstGeom prst="roundRect">
            <a:avLst/>
          </a:prstGeom>
          <a:solidFill>
            <a:srgbClr val="E8F0FE"/>
          </a:solidFill>
          <a:ln w="1524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4285F4"/>
                </a:solidFill>
                <a:latin typeface="Aptos"/>
              </a:rPr>
              <a:t>ResNet-50 Embeddings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5806440" y="2487168"/>
            <a:ext cx="1645920" cy="310896"/>
          </a:xfrm>
          <a:prstGeom prst="roundRect">
            <a:avLst/>
          </a:prstGeom>
          <a:solidFill>
            <a:srgbClr val="FFF4E0"/>
          </a:solidFill>
          <a:ln w="15240">
            <a:solidFill>
              <a:srgbClr val="FFF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2234"/>
                </a:solidFill>
                <a:latin typeface="Aptos"/>
              </a:rPr>
              <a:t>FAISS Vector Search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806440" y="2871216"/>
            <a:ext cx="1645920" cy="310896"/>
          </a:xfrm>
          <a:prstGeom prst="roundRect">
            <a:avLst/>
          </a:prstGeom>
          <a:solidFill>
            <a:srgbClr val="FCE8E6"/>
          </a:solidFill>
          <a:ln w="15240"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EA4335"/>
                </a:solidFill>
                <a:latin typeface="Aptos"/>
              </a:rPr>
              <a:t>Polygon Hash Proof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TextBox 122"/>
          <p:cNvSpPr txBox="1"/>
          <p:nvPr/>
        </p:nvSpPr>
        <p:spPr>
          <a:xfrm>
            <a:off x="457200" y="6583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Opportunities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457200" y="1069848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457200" y="11704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ptos"/>
              </a:rPr>
              <a:t>Where AEGIS is stronger than a basic anti-piracy workflow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48640" y="1600200"/>
            <a:ext cx="25146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48640" y="1600200"/>
            <a:ext cx="91440" cy="2103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49808" y="179222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82234"/>
                </a:solidFill>
                <a:latin typeface="Aptos"/>
              </a:rPr>
              <a:t>Why different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49808" y="2157984"/>
            <a:ext cx="20848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Aptos"/>
              </a:rPr>
              <a:t>Most tools depend on visible watermarks or simple keyword matching. AEGIS still finds content after cropping, recompression, or reposting.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337560" y="1600200"/>
            <a:ext cx="25146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337560" y="1600200"/>
            <a:ext cx="91440" cy="2103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538728" y="179222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82234"/>
                </a:solidFill>
                <a:latin typeface="Aptos"/>
              </a:rPr>
              <a:t>Why it solves the problem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538728" y="2157984"/>
            <a:ext cx="20848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Aptos"/>
              </a:rPr>
              <a:t>FAISS narrows the search fast, Gemini reasons over ambiguous cases, and the system packages proof for action instead of just raising an alert.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126479" y="1600200"/>
            <a:ext cx="25146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126479" y="1600200"/>
            <a:ext cx="91440" cy="2103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27647" y="179222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82234"/>
                </a:solidFill>
                <a:latin typeface="Aptos"/>
              </a:rPr>
              <a:t>USP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327647" y="2157984"/>
            <a:ext cx="2084831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Aptos"/>
              </a:rPr>
              <a:t>A courtroom-ready evidence chain: perceptual match, AI reasoning, deepfake assessment, and on-chain integrity proof in one flow.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48640" y="3886200"/>
            <a:ext cx="7498079" cy="658368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49808" y="4087368"/>
            <a:ext cx="7132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82234"/>
                </a:solidFill>
                <a:latin typeface="Aptos"/>
              </a:rPr>
              <a:t>Why now: generative edits are making sports piracy harder to prove, not just harder to find. Judges need to see that AEGIS closes both gaps.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TextBox 128"/>
          <p:cNvSpPr txBox="1"/>
          <p:nvPr/>
        </p:nvSpPr>
        <p:spPr>
          <a:xfrm>
            <a:off x="457200" y="6583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List of features offered by the solution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57200" y="1069848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457200" y="11704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ptos"/>
              </a:rPr>
              <a:t>Lean product surface, high technical depth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8640" y="1600200"/>
            <a:ext cx="2240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13232" y="1764792"/>
            <a:ext cx="310896" cy="310896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15568" y="1719072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Realtime command center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13232" y="214884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Aptos"/>
              </a:rPr>
              <a:t>Track live violation spikes and severity in one view.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154680" y="1600200"/>
            <a:ext cx="2240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319272" y="176479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3721608" y="1719072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Perceptual fingerprinting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319272" y="214884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Aptos"/>
              </a:rPr>
              <a:t>ResNet-based embeddings survive resize, crop, and re-encode attacks.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760720" y="1600200"/>
            <a:ext cx="2240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5925312" y="1764792"/>
            <a:ext cx="310896" cy="310896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27648" y="1719072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FAISS nearest-neighbor search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925312" y="214884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Aptos"/>
              </a:rPr>
              <a:t>Fast retrieval of likely matches from the registered asset index.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48640" y="3108960"/>
            <a:ext cx="2240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13232" y="3273552"/>
            <a:ext cx="310896" cy="310896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115568" y="3227832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Gemini verification layer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13232" y="365760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Aptos"/>
              </a:rPr>
              <a:t>Reason over borderline matches and explain the enforcement decision.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154680" y="3108960"/>
            <a:ext cx="2240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319272" y="3273552"/>
            <a:ext cx="310896" cy="310896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721608" y="3227832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Deepfake anomaly screening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19272" y="365760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Aptos"/>
              </a:rPr>
              <a:t>Flag manipulated media before it spreads as fake evidence.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760720" y="3108960"/>
            <a:ext cx="22402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5925312" y="3273552"/>
            <a:ext cx="310896" cy="310896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27648" y="3227832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DMCA + audit trail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925312" y="365760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Aptos"/>
              </a:rPr>
              <a:t>Generate legal notices with hash proof, timestamps, and case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TextBox 134"/>
          <p:cNvSpPr txBox="1"/>
          <p:nvPr/>
        </p:nvSpPr>
        <p:spPr>
          <a:xfrm>
            <a:off x="457200" y="6583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Process flow diagram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457200" y="1069848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457200" y="11704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ptos"/>
              </a:rPr>
              <a:t>A judge-friendly view of the full detection pipeline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65760" y="2011680"/>
            <a:ext cx="1234440" cy="1005840"/>
          </a:xfrm>
          <a:prstGeom prst="roundRect">
            <a:avLst/>
          </a:prstGeom>
          <a:solidFill>
            <a:srgbClr val="E8F0FE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75488" y="2194560"/>
            <a:ext cx="10149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82234"/>
                </a:solidFill>
                <a:latin typeface="Aptos"/>
              </a:rPr>
              <a:t>Register asset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1600200" y="2514600"/>
            <a:ext cx="118872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/>
          <p:cNvSpPr/>
          <p:nvPr/>
        </p:nvSpPr>
        <p:spPr>
          <a:xfrm>
            <a:off x="1737360" y="2011680"/>
            <a:ext cx="1234440" cy="10058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847088" y="2194560"/>
            <a:ext cx="10149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82234"/>
                </a:solidFill>
                <a:latin typeface="Aptos"/>
              </a:rPr>
              <a:t>Extract frames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2971800" y="2514600"/>
            <a:ext cx="118872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>
            <a:off x="3108960" y="2011680"/>
            <a:ext cx="1234440" cy="1005840"/>
          </a:xfrm>
          <a:prstGeom prst="roundRect">
            <a:avLst/>
          </a:prstGeom>
          <a:solidFill>
            <a:srgbClr val="FFF4E0"/>
          </a:solidFill>
          <a:ln w="15240">
            <a:solidFill>
              <a:srgbClr val="18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218688" y="2194560"/>
            <a:ext cx="10149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82234"/>
                </a:solidFill>
                <a:latin typeface="Aptos"/>
              </a:rPr>
              <a:t>Create embeddings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4343400" y="2514600"/>
            <a:ext cx="118872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4480560" y="2011680"/>
            <a:ext cx="1234440" cy="1005840"/>
          </a:xfrm>
          <a:prstGeom prst="roundRect">
            <a:avLst/>
          </a:prstGeom>
          <a:solidFill>
            <a:srgbClr val="E8F0FE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590288" y="2194560"/>
            <a:ext cx="10149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82234"/>
                </a:solidFill>
                <a:latin typeface="Aptos"/>
              </a:rPr>
              <a:t>Search FAISS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5715000" y="2514600"/>
            <a:ext cx="118872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ounded Rectangle 149"/>
          <p:cNvSpPr/>
          <p:nvPr/>
        </p:nvSpPr>
        <p:spPr>
          <a:xfrm>
            <a:off x="5852160" y="2011680"/>
            <a:ext cx="1234440" cy="1005840"/>
          </a:xfrm>
          <a:prstGeom prst="roundRect">
            <a:avLst/>
          </a:prstGeom>
          <a:solidFill>
            <a:srgbClr val="FCE8E6"/>
          </a:solidFill>
          <a:ln w="152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961888" y="2194560"/>
            <a:ext cx="10149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82234"/>
                </a:solidFill>
                <a:latin typeface="Aptos"/>
              </a:rPr>
              <a:t>Verify with Gemini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7086600" y="2514600"/>
            <a:ext cx="118872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7223760" y="2011680"/>
            <a:ext cx="1234440" cy="10058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333488" y="2194560"/>
            <a:ext cx="1014984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82234"/>
                </a:solidFill>
                <a:latin typeface="Aptos"/>
              </a:rPr>
              <a:t>Generate DMCA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31520" y="3611880"/>
            <a:ext cx="71323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14400" y="3822191"/>
            <a:ext cx="21031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6B7280"/>
                </a:solidFill>
                <a:latin typeface="Aptos"/>
              </a:rPr>
              <a:t>Operational target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4400" y="404164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4285F4"/>
                </a:solidFill>
                <a:latin typeface="Aptos"/>
              </a:rPr>
              <a:t>2.1s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011680" y="404164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F2937"/>
                </a:solidFill>
                <a:latin typeface="Aptos"/>
              </a:rPr>
              <a:t>average time from suspicious upload ingestion to AI-backed enforcement verdict in the prototype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TextBox 140"/>
          <p:cNvSpPr txBox="1"/>
          <p:nvPr/>
        </p:nvSpPr>
        <p:spPr>
          <a:xfrm>
            <a:off x="457200" y="6583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Wireframes / Mock diagrams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457200" y="1069848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457200" y="11704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ptos"/>
              </a:rPr>
              <a:t>The product stays intuitive by limiting itself to three core actions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94360" y="1417320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82234"/>
                </a:solidFill>
                <a:latin typeface="Aptos"/>
              </a:rPr>
              <a:t>Register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94360" y="1691640"/>
            <a:ext cx="2011680" cy="2331720"/>
          </a:xfrm>
          <a:prstGeom prst="roundRect">
            <a:avLst/>
          </a:prstGeom>
          <a:solidFill>
            <a:srgbClr val="FAFAFB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94360" y="1691640"/>
            <a:ext cx="2011680" cy="23774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758952" y="2011680"/>
            <a:ext cx="1682496" cy="1463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758952" y="2395728"/>
            <a:ext cx="1682496" cy="1463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758952" y="2779776"/>
            <a:ext cx="1682496" cy="1463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795528" y="2834640"/>
            <a:ext cx="1609344" cy="8229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D6DFEB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60120" y="3127248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6B7280"/>
                </a:solidFill>
                <a:latin typeface="Aptos"/>
              </a:rPr>
              <a:t>Upload zone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127248" y="1417320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82234"/>
                </a:solidFill>
                <a:latin typeface="Aptos"/>
              </a:rPr>
              <a:t>Monitor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127248" y="1691640"/>
            <a:ext cx="2011680" cy="2331720"/>
          </a:xfrm>
          <a:prstGeom prst="roundRect">
            <a:avLst/>
          </a:prstGeom>
          <a:solidFill>
            <a:srgbClr val="FAFAFB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3127248" y="1691640"/>
            <a:ext cx="2011680" cy="23774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3291840" y="2011680"/>
            <a:ext cx="1682496" cy="1463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3291840" y="2395728"/>
            <a:ext cx="1682496" cy="1463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3291840" y="2779776"/>
            <a:ext cx="1682496" cy="1463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3273552" y="2706624"/>
            <a:ext cx="1719072" cy="182880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3273552" y="2962656"/>
            <a:ext cx="1719072" cy="182880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3273552" y="3218688"/>
            <a:ext cx="1719072" cy="182880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3273552" y="3474720"/>
            <a:ext cx="1719072" cy="182880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4544568" y="1975104"/>
            <a:ext cx="329184" cy="329184"/>
          </a:xfrm>
          <a:prstGeom prst="roundRect">
            <a:avLst/>
          </a:prstGeom>
          <a:solidFill>
            <a:srgbClr val="FCE8E6"/>
          </a:solidFill>
          <a:ln w="152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650992" y="1417320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82234"/>
                </a:solidFill>
                <a:latin typeface="Aptos"/>
              </a:rPr>
              <a:t>Enforce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650992" y="1691640"/>
            <a:ext cx="2011680" cy="2331720"/>
          </a:xfrm>
          <a:prstGeom prst="roundRect">
            <a:avLst/>
          </a:prstGeom>
          <a:solidFill>
            <a:srgbClr val="FAFAFB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650992" y="1691640"/>
            <a:ext cx="2011680" cy="23774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5815584" y="2011680"/>
            <a:ext cx="1682496" cy="1463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5815584" y="2395728"/>
            <a:ext cx="1682496" cy="1463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5815584" y="2779776"/>
            <a:ext cx="1682496" cy="146304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5815584" y="2688336"/>
            <a:ext cx="1691640" cy="713232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07024" y="2889504"/>
            <a:ext cx="1463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B7280"/>
                </a:solidFill>
                <a:latin typeface="Consolas"/>
              </a:rPr>
              <a:t>{"match": true}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5815584" y="3511296"/>
            <a:ext cx="914400" cy="292608"/>
          </a:xfrm>
          <a:prstGeom prst="roundRect">
            <a:avLst/>
          </a:prstGeom>
          <a:solidFill>
            <a:srgbClr val="FCE8E6"/>
          </a:solidFill>
          <a:ln w="152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907024" y="3566160"/>
            <a:ext cx="7315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EA4335"/>
                </a:solidFill>
                <a:latin typeface="Aptos"/>
              </a:rPr>
              <a:t>DMCA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94360" y="4224528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Each screen is designed to answer one question only: what is protected, what is suspicious, and what action should be taken 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TextBox 146"/>
          <p:cNvSpPr txBox="1"/>
          <p:nvPr/>
        </p:nvSpPr>
        <p:spPr>
          <a:xfrm>
            <a:off x="457200" y="6583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Architecture diagram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457200" y="1069848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457200" y="11704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ptos"/>
              </a:rPr>
              <a:t>Cloud-native services with a clear AI verification layer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02920" y="1874519"/>
            <a:ext cx="1371600" cy="1051560"/>
          </a:xfrm>
          <a:prstGeom prst="roundRect">
            <a:avLst/>
          </a:prstGeom>
          <a:solidFill>
            <a:srgbClr val="E8F0FE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58368" y="2157984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82234"/>
                </a:solidFill>
                <a:latin typeface="Aptos"/>
              </a:rPr>
              <a:t>React dashboard
Broadcast ops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240280" y="1874519"/>
            <a:ext cx="141732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450592" y="2157984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82234"/>
                </a:solidFill>
                <a:latin typeface="Aptos"/>
              </a:rPr>
              <a:t>API + Auth
Cloud Run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3977639" y="1325880"/>
            <a:ext cx="1554480" cy="7315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178808" y="1517904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Gemini 1.5 Pro
Vertex AI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977639" y="2240280"/>
            <a:ext cx="1554480" cy="731520"/>
          </a:xfrm>
          <a:prstGeom prst="roundRect">
            <a:avLst/>
          </a:prstGeom>
          <a:solidFill>
            <a:srgbClr val="E8F0FE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233672" y="2441448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FAISS
Search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977639" y="3154680"/>
            <a:ext cx="1554480" cy="731520"/>
          </a:xfrm>
          <a:prstGeom prst="roundRect">
            <a:avLst/>
          </a:prstGeom>
          <a:solidFill>
            <a:srgbClr val="FFF4E0"/>
          </a:solidFill>
          <a:ln w="15240">
            <a:solidFill>
              <a:srgbClr val="18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4133087" y="335584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FFmpeg +
Embedding Worker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897880" y="1097280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108192" y="1298448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Cloud Storage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897880" y="2029968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81344" y="2231136"/>
            <a:ext cx="11155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Firestore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897880" y="2962656"/>
            <a:ext cx="169164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035040" y="3163824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Polygon proof layer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1874519" y="2395728"/>
            <a:ext cx="365761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3657600" y="2395728"/>
            <a:ext cx="320039" cy="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657600" y="1700784"/>
            <a:ext cx="320039" cy="694944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3657600" y="2395728"/>
            <a:ext cx="320039" cy="1133856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532120" y="1426464"/>
            <a:ext cx="365760" cy="274320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532120" y="2359152"/>
            <a:ext cx="365760" cy="36576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32120" y="3291840"/>
            <a:ext cx="365760" cy="237744"/>
          </a:xfrm>
          <a:prstGeom prst="line">
            <a:avLst/>
          </a:prstGeom>
          <a:ln w="1524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640080" y="4023360"/>
            <a:ext cx="71323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Platform connectors ingest suspected URLs from public social channels and mirror sites; verified cases are written back into the audit trail.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TextBox 152"/>
          <p:cNvSpPr txBox="1"/>
          <p:nvPr/>
        </p:nvSpPr>
        <p:spPr>
          <a:xfrm>
            <a:off x="457200" y="6583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Technologies to be used in the solution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457200" y="1069848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457200" y="11704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ptos"/>
              </a:rPr>
              <a:t>Every technology maps directly to a part of the problem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85800" y="1737360"/>
            <a:ext cx="1783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50392" y="193852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285F4"/>
                </a:solidFill>
                <a:latin typeface="Aptos"/>
              </a:rPr>
              <a:t>Frontend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50392" y="2331720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React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50392" y="2715768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Tailwind CSS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50392" y="3099816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Firebase Hosting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2697480" y="1737360"/>
            <a:ext cx="1783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862072" y="193852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34A853"/>
                </a:solidFill>
                <a:latin typeface="Aptos"/>
              </a:rPr>
              <a:t>AI / ML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2862072" y="2331720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Gemini 1.5 Pro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862072" y="2715768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Vertex AI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2862072" y="3099816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ResNet-50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2862072" y="3483864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FAISS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709160" y="1737360"/>
            <a:ext cx="1783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873752" y="193852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EA4335"/>
                </a:solidFill>
                <a:latin typeface="Aptos"/>
              </a:rPr>
              <a:t>Security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873752" y="2331720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Firebase Auth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4873752" y="2715768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SHA-3 hashing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4873752" y="3099816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Polygon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720840" y="1737360"/>
            <a:ext cx="1783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885432" y="193852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BBC05"/>
                </a:solidFill>
                <a:latin typeface="Aptos"/>
              </a:rPr>
              <a:t>Infra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6885432" y="2331720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Cloud Run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885432" y="2715768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Cloud Storage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885432" y="3099816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Firestore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885432" y="3483864"/>
            <a:ext cx="1417320" cy="310896"/>
          </a:xfrm>
          <a:prstGeom prst="roundRect">
            <a:avLst/>
          </a:prstGeom>
          <a:solidFill>
            <a:srgbClr val="F3F7FF"/>
          </a:solidFill>
          <a:ln w="15240">
            <a:solidFill>
              <a:srgbClr val="F3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2937"/>
                </a:solidFill>
                <a:latin typeface="Aptos"/>
              </a:rPr>
              <a:t>FFmpeg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TextBox 158"/>
          <p:cNvSpPr txBox="1"/>
          <p:nvPr/>
        </p:nvSpPr>
        <p:spPr>
          <a:xfrm>
            <a:off x="457200" y="6583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Estimated implementation cost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457200" y="1069848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457200" y="11704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ptos"/>
              </a:rPr>
              <a:t>Prototype-friendly today, scalable for league deployment later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85800" y="1691640"/>
            <a:ext cx="40690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96112" y="1874519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82234"/>
                </a:solidFill>
                <a:latin typeface="Aptos"/>
              </a:rPr>
              <a:t>Monthly estimate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14400" y="224028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F2937"/>
                </a:solidFill>
                <a:latin typeface="Aptos"/>
              </a:rPr>
              <a:t>Cloud Run API + workers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794760" y="2240280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1">
                <a:solidFill>
                  <a:srgbClr val="182234"/>
                </a:solidFill>
                <a:latin typeface="Aptos"/>
              </a:rPr>
              <a:t>$70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914400" y="2450592"/>
            <a:ext cx="3429000" cy="0"/>
          </a:xfrm>
          <a:prstGeom prst="line">
            <a:avLst/>
          </a:prstGeom>
          <a:ln w="10160">
            <a:solidFill>
              <a:srgbClr val="D6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914400" y="257860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F2937"/>
                </a:solidFill>
                <a:latin typeface="Aptos"/>
              </a:rPr>
              <a:t>Storage + network egress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794760" y="2578608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1">
                <a:solidFill>
                  <a:srgbClr val="182234"/>
                </a:solidFill>
                <a:latin typeface="Aptos"/>
              </a:rPr>
              <a:t>$45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914400" y="2788920"/>
            <a:ext cx="3429000" cy="0"/>
          </a:xfrm>
          <a:prstGeom prst="line">
            <a:avLst/>
          </a:prstGeom>
          <a:ln w="10160">
            <a:solidFill>
              <a:srgbClr val="D6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14400" y="2916936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F2937"/>
                </a:solidFill>
                <a:latin typeface="Aptos"/>
              </a:rPr>
              <a:t>Gemini verification calls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794760" y="2916936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1">
                <a:solidFill>
                  <a:srgbClr val="182234"/>
                </a:solidFill>
                <a:latin typeface="Aptos"/>
              </a:rPr>
              <a:t>$180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914400" y="3127248"/>
            <a:ext cx="3429000" cy="0"/>
          </a:xfrm>
          <a:prstGeom prst="line">
            <a:avLst/>
          </a:prstGeom>
          <a:ln w="10160">
            <a:solidFill>
              <a:srgbClr val="D6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914400" y="3255264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F2937"/>
                </a:solidFill>
                <a:latin typeface="Aptos"/>
              </a:rPr>
              <a:t>FAISS + background monitoring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3794760" y="32552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1">
                <a:solidFill>
                  <a:srgbClr val="182234"/>
                </a:solidFill>
                <a:latin typeface="Aptos"/>
              </a:rPr>
              <a:t>$95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914400" y="3465576"/>
            <a:ext cx="3429000" cy="0"/>
          </a:xfrm>
          <a:prstGeom prst="line">
            <a:avLst/>
          </a:prstGeom>
          <a:ln w="10160">
            <a:solidFill>
              <a:srgbClr val="D6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914400" y="359359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F2937"/>
                </a:solidFill>
                <a:latin typeface="Aptos"/>
              </a:rPr>
              <a:t>Logging / alerting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794760" y="359359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1">
                <a:solidFill>
                  <a:srgbClr val="182234"/>
                </a:solidFill>
                <a:latin typeface="Aptos"/>
              </a:rPr>
              <a:t>$40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914400" y="3803904"/>
            <a:ext cx="3429000" cy="0"/>
          </a:xfrm>
          <a:prstGeom prst="line">
            <a:avLst/>
          </a:prstGeom>
          <a:ln w="10160">
            <a:solidFill>
              <a:srgbClr val="D6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914400" y="3675887"/>
            <a:ext cx="2743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B7280"/>
                </a:solidFill>
                <a:latin typeface="Aptos"/>
              </a:rPr>
              <a:t>Estimated prototype total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429000" y="363931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350" b="1">
                <a:solidFill>
                  <a:srgbClr val="4285F4"/>
                </a:solidFill>
                <a:latin typeface="Aptos"/>
              </a:rPr>
              <a:t>$430/mo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5074920" y="1691640"/>
            <a:ext cx="2788920" cy="2468880"/>
          </a:xfrm>
          <a:prstGeom prst="roundRect">
            <a:avLst/>
          </a:prstGeom>
          <a:solidFill>
            <a:srgbClr val="E8F0FE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321808" y="190195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82234"/>
                </a:solidFill>
                <a:latin typeface="Aptos"/>
              </a:rPr>
              <a:t>Why the cost stays efficient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257800" y="224028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150">
                <a:solidFill>
                  <a:srgbClr val="1F2937"/>
                </a:solidFill>
                <a:latin typeface="Aptos"/>
              </a:rPr>
              <a:t>• Most assets are resolved by fast vector search before Gemini is invoked.</a:t>
            </a:r>
          </a:p>
          <a:p>
            <a:pPr algn="l">
              <a:spcAft>
                <a:spcPts val="800"/>
              </a:spcAft>
            </a:pPr>
            <a:r>
              <a:rPr sz="1150">
                <a:solidFill>
                  <a:srgbClr val="1F2937"/>
                </a:solidFill>
                <a:latin typeface="Aptos"/>
              </a:rPr>
              <a:t>• Event-driven workers keep heavy compute off until a new asset or suspected violation arrives.</a:t>
            </a:r>
          </a:p>
          <a:p>
            <a:pPr algn="l">
              <a:spcAft>
                <a:spcPts val="800"/>
              </a:spcAft>
            </a:pPr>
            <a:r>
              <a:rPr sz="1150">
                <a:solidFill>
                  <a:srgbClr val="1F2937"/>
                </a:solidFill>
                <a:latin typeface="Aptos"/>
              </a:rPr>
              <a:t>• Cloud services scale with match volume rather than requiring fixed hardware.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TextBox 164"/>
          <p:cNvSpPr txBox="1"/>
          <p:nvPr/>
        </p:nvSpPr>
        <p:spPr>
          <a:xfrm>
            <a:off x="457200" y="6583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Snapshots of the MVP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457200" y="1069848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457200" y="11704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ptos"/>
              </a:rPr>
              <a:t>Two key product moments from the interactive prototype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566928" y="1600200"/>
            <a:ext cx="3429000" cy="2487168"/>
          </a:xfrm>
          <a:prstGeom prst="roundRect">
            <a:avLst/>
          </a:prstGeom>
          <a:solidFill>
            <a:srgbClr val="0A0F1E"/>
          </a:solidFill>
          <a:ln w="1651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566928" y="1600200"/>
            <a:ext cx="3429000" cy="2560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13232" y="1682496"/>
            <a:ext cx="73152" cy="7315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859536" y="1682496"/>
            <a:ext cx="73152" cy="7315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05840" y="1682496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59536" y="1938528"/>
            <a:ext cx="2651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Command Center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749808" y="2240280"/>
            <a:ext cx="868680" cy="47548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ounded Rectangle 174"/>
          <p:cNvSpPr/>
          <p:nvPr/>
        </p:nvSpPr>
        <p:spPr>
          <a:xfrm>
            <a:off x="1801367" y="2240280"/>
            <a:ext cx="868680" cy="47548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2852928" y="2240280"/>
            <a:ext cx="868680" cy="47548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749808" y="2871216"/>
            <a:ext cx="2148840" cy="164592"/>
          </a:xfrm>
          <a:prstGeom prst="roundRect">
            <a:avLst/>
          </a:prstGeom>
          <a:solidFill>
            <a:srgbClr val="182234"/>
          </a:solidFill>
          <a:ln w="15240">
            <a:solidFill>
              <a:srgbClr val="18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749808" y="3108960"/>
            <a:ext cx="2148840" cy="164592"/>
          </a:xfrm>
          <a:prstGeom prst="roundRect">
            <a:avLst/>
          </a:prstGeom>
          <a:solidFill>
            <a:srgbClr val="182234"/>
          </a:solidFill>
          <a:ln w="15240">
            <a:solidFill>
              <a:srgbClr val="18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749808" y="3346704"/>
            <a:ext cx="2148840" cy="164592"/>
          </a:xfrm>
          <a:prstGeom prst="roundRect">
            <a:avLst/>
          </a:prstGeom>
          <a:solidFill>
            <a:srgbClr val="182234"/>
          </a:solidFill>
          <a:ln w="15240">
            <a:solidFill>
              <a:srgbClr val="18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749808" y="3584448"/>
            <a:ext cx="2148840" cy="164592"/>
          </a:xfrm>
          <a:prstGeom prst="roundRect">
            <a:avLst/>
          </a:prstGeom>
          <a:solidFill>
            <a:srgbClr val="182234"/>
          </a:solidFill>
          <a:ln w="15240">
            <a:solidFill>
              <a:srgbClr val="18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749808" y="3822191"/>
            <a:ext cx="2148840" cy="164592"/>
          </a:xfrm>
          <a:prstGeom prst="roundRect">
            <a:avLst/>
          </a:prstGeom>
          <a:solidFill>
            <a:srgbClr val="182234"/>
          </a:solidFill>
          <a:ln w="15240">
            <a:solidFill>
              <a:srgbClr val="18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ounded Rectangle 181"/>
          <p:cNvSpPr/>
          <p:nvPr/>
        </p:nvSpPr>
        <p:spPr>
          <a:xfrm>
            <a:off x="3054096" y="2240280"/>
            <a:ext cx="621792" cy="1792224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768096" y="420624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8D0DB"/>
                </a:solidFill>
                <a:latin typeface="Aptos"/>
              </a:rPr>
              <a:t>Minimal UI, fast action paths, and visible AI evidence.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4480560" y="1600200"/>
            <a:ext cx="3429000" cy="2487168"/>
          </a:xfrm>
          <a:prstGeom prst="roundRect">
            <a:avLst/>
          </a:prstGeom>
          <a:solidFill>
            <a:srgbClr val="0A0F1E"/>
          </a:solidFill>
          <a:ln w="1651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480560" y="1600200"/>
            <a:ext cx="3429000" cy="2560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4626864" y="1682496"/>
            <a:ext cx="73152" cy="7315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4773168" y="1682496"/>
            <a:ext cx="73152" cy="73152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919472" y="1682496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4773168" y="1938528"/>
            <a:ext cx="2651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Detect Violation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4681728" y="2267712"/>
            <a:ext cx="1188720" cy="53035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6035040" y="2267712"/>
            <a:ext cx="1536192" cy="530352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ounded Rectangle 191"/>
          <p:cNvSpPr/>
          <p:nvPr/>
        </p:nvSpPr>
        <p:spPr>
          <a:xfrm>
            <a:off x="4681728" y="2907792"/>
            <a:ext cx="2816352" cy="164592"/>
          </a:xfrm>
          <a:prstGeom prst="roundRect">
            <a:avLst/>
          </a:prstGeom>
          <a:solidFill>
            <a:srgbClr val="182234"/>
          </a:solidFill>
          <a:ln w="15240">
            <a:solidFill>
              <a:srgbClr val="1822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681728" y="2907792"/>
            <a:ext cx="2331720" cy="16459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4681728" y="3246120"/>
            <a:ext cx="2816352" cy="658368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800600" y="347472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E2E8F0"/>
                </a:solidFill>
                <a:latin typeface="Consolas"/>
              </a:rPr>
              <a:t>{"match": true, "confidence": 0.94}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681728" y="4206240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C8D0DB"/>
                </a:solidFill>
                <a:latin typeface="Aptos"/>
              </a:rPr>
              <a:t>Minimal UI, fast action paths, and visible AI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TextBox 170"/>
          <p:cNvSpPr txBox="1"/>
          <p:nvPr/>
        </p:nvSpPr>
        <p:spPr>
          <a:xfrm>
            <a:off x="457200" y="6583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Additional details / Future development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457200" y="1069848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457200" y="11704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ptos"/>
              </a:rPr>
              <a:t>A narrow MVP today, a league-scale product path tomorrow</a:t>
            </a:r>
          </a:p>
        </p:txBody>
      </p:sp>
      <p:sp>
        <p:nvSpPr>
          <p:cNvPr id="174" name="Oval 173"/>
          <p:cNvSpPr/>
          <p:nvPr/>
        </p:nvSpPr>
        <p:spPr>
          <a:xfrm>
            <a:off x="1124712" y="2011680"/>
            <a:ext cx="438912" cy="43891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85800" y="2560320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82234"/>
                </a:solidFill>
                <a:latin typeface="Aptos"/>
              </a:rPr>
              <a:t>Now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85800" y="2907792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Upload registration, FAISS search, Gemini verification, DMCA drafting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2423160" y="2231136"/>
            <a:ext cx="731520" cy="0"/>
          </a:xfrm>
          <a:prstGeom prst="line">
            <a:avLst/>
          </a:prstGeom>
          <a:ln w="15240">
            <a:solidFill>
              <a:srgbClr val="D6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/>
          <p:cNvSpPr/>
          <p:nvPr/>
        </p:nvSpPr>
        <p:spPr>
          <a:xfrm>
            <a:off x="3685032" y="2011680"/>
            <a:ext cx="438912" cy="43891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246120" y="2560320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82234"/>
                </a:solidFill>
                <a:latin typeface="Aptos"/>
              </a:rPr>
              <a:t>Next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246120" y="2907792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Automated crawlers, multilingual legal packs, human reviewer feedback loop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4983480" y="2231136"/>
            <a:ext cx="731520" cy="0"/>
          </a:xfrm>
          <a:prstGeom prst="line">
            <a:avLst/>
          </a:prstGeom>
          <a:ln w="15240">
            <a:solidFill>
              <a:srgbClr val="D6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245352" y="2011680"/>
            <a:ext cx="438912" cy="43891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806440" y="2560320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82234"/>
                </a:solidFill>
                <a:latin typeface="Aptos"/>
              </a:rPr>
              <a:t>Later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806440" y="2907792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Live-stream fingerprinting, broadcaster APIs, rights marketplace integrations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TextBox 176"/>
          <p:cNvSpPr txBox="1"/>
          <p:nvPr/>
        </p:nvSpPr>
        <p:spPr>
          <a:xfrm>
            <a:off x="457200" y="658368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Submission links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457200" y="1069848"/>
            <a:ext cx="914400" cy="0"/>
          </a:xfrm>
          <a:prstGeom prst="line">
            <a:avLst/>
          </a:prstGeom>
          <a:ln w="2794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457200" y="1170432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B7280"/>
                </a:solidFill>
                <a:latin typeface="Aptos"/>
              </a:rPr>
              <a:t>Slide is ready for the final URLs once publishing is complete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713232" y="1645920"/>
            <a:ext cx="7269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932688" y="1810512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GitHub public repository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383280" y="1810512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Add final public repo URL before submission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713232" y="2450592"/>
            <a:ext cx="7269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932688" y="2615184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Demo video link (3 minutes)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383280" y="2615184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Add uploaded demo URL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713232" y="3255264"/>
            <a:ext cx="7269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32688" y="3419856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MVP link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383280" y="3419856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Attach deployed prototype URL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713232" y="4059936"/>
            <a:ext cx="726948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32688" y="4224528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82234"/>
                </a:solidFill>
                <a:latin typeface="Aptos"/>
              </a:rPr>
              <a:t>Working prototype link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383280" y="4224528"/>
            <a:ext cx="4114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B7280"/>
                </a:solidFill>
                <a:latin typeface="Aptos"/>
              </a:rPr>
              <a:t>Attach production or staging URL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49808" y="4663440"/>
            <a:ext cx="6766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Aptos"/>
              </a:rPr>
              <a:t>If you send the final links, this slide can be patched in a minute without changing the rest of the deck.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TextBox 181"/>
          <p:cNvSpPr txBox="1"/>
          <p:nvPr/>
        </p:nvSpPr>
        <p:spPr>
          <a:xfrm>
            <a:off x="594360" y="9144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4285F4"/>
                </a:solidFill>
                <a:latin typeface="Aptos"/>
              </a:rPr>
              <a:t>EXPECTED IMPACT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94360" y="1225296"/>
            <a:ext cx="3886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82234"/>
                </a:solidFill>
                <a:latin typeface="Aptos"/>
              </a:rPr>
              <a:t>78% faster review-to-action for sports media enforcement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94360" y="2331720"/>
            <a:ext cx="35661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6B7280"/>
                </a:solidFill>
                <a:latin typeface="Aptos"/>
              </a:rPr>
              <a:t>AEGIS reduces manual triage and packages proof before clips spread across mirrors.</a:t>
            </a:r>
          </a:p>
        </p:txBody>
      </p:sp>
      <p:graphicFrame>
        <p:nvGraphicFramePr>
          <p:cNvPr id="185" name="Chart 184"/>
          <p:cNvGraphicFramePr>
            <a:graphicFrameLocks noGrp="1"/>
          </p:cNvGraphicFramePr>
          <p:nvPr/>
        </p:nvGraphicFramePr>
        <p:xfrm>
          <a:off x="4754880" y="1325880"/>
          <a:ext cx="2926080" cy="20116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86" name="Rounded Rectangle 185"/>
          <p:cNvSpPr/>
          <p:nvPr/>
        </p:nvSpPr>
        <p:spPr>
          <a:xfrm>
            <a:off x="640080" y="3383280"/>
            <a:ext cx="2240280" cy="11521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40080" y="3383280"/>
            <a:ext cx="73152" cy="115214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04672" y="3493008"/>
            <a:ext cx="20208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6B7280"/>
                </a:solidFill>
                <a:latin typeface="Aptos"/>
              </a:rPr>
              <a:t>VIOLATIONS / DAY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04672" y="3685032"/>
            <a:ext cx="20208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82234"/>
                </a:solidFill>
                <a:latin typeface="Aptos"/>
              </a:rPr>
              <a:t>47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04672" y="4133088"/>
            <a:ext cx="20208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B7280"/>
                </a:solidFill>
                <a:latin typeface="Aptos"/>
              </a:rPr>
              <a:t>prototype monitoring baseline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3017520" y="3383280"/>
            <a:ext cx="2240280" cy="11521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017520" y="3383280"/>
            <a:ext cx="73152" cy="115214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182112" y="3493008"/>
            <a:ext cx="20208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6B7280"/>
                </a:solidFill>
                <a:latin typeface="Aptos"/>
              </a:rPr>
              <a:t>DEEPFAKES FLAGGED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182112" y="3685032"/>
            <a:ext cx="20208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82234"/>
                </a:solidFill>
                <a:latin typeface="Aptos"/>
              </a:rPr>
              <a:t>9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182112" y="4133088"/>
            <a:ext cx="20208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B7280"/>
                </a:solidFill>
                <a:latin typeface="Aptos"/>
              </a:rPr>
              <a:t>high-risk cases surfaced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5394960" y="3383280"/>
            <a:ext cx="2240280" cy="11521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94960" y="3383280"/>
            <a:ext cx="73152" cy="115214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559552" y="3493008"/>
            <a:ext cx="20208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6B7280"/>
                </a:solidFill>
                <a:latin typeface="Aptos"/>
              </a:rPr>
              <a:t>EST. VALUE PROTECTED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559552" y="3685032"/>
            <a:ext cx="202082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82234"/>
                </a:solidFill>
                <a:latin typeface="Aptos"/>
              </a:rPr>
              <a:t>$2.3M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559552" y="4133088"/>
            <a:ext cx="20208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6B7280"/>
                </a:solidFill>
                <a:latin typeface="Aptos"/>
              </a:rPr>
              <a:t>rights value preserved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TextBox 186"/>
          <p:cNvSpPr txBox="1"/>
          <p:nvPr/>
        </p:nvSpPr>
        <p:spPr>
          <a:xfrm>
            <a:off x="5349240" y="178308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4285F4"/>
                </a:solidFill>
                <a:latin typeface="Aptos"/>
              </a:rPr>
              <a:t>AEGIS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047488" y="2084831"/>
            <a:ext cx="2560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Aptos"/>
              </a:rPr>
              <a:t>AI-native sports media integrity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